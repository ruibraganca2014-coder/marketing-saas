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Investimento</c:v>
                </c:pt>
              </c:strCache>
            </c:strRef>
          </c:tx>
          <c:spPr>
            <a:solidFill>
              <a:srgbClr val="606C3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8361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Fundo de reserva (3 meses)</c:v>
                  </c:pt>
                  <c:pt idx="1">
                    <c:v>Stock de aparelhos</c:v>
                  </c:pt>
                  <c:pt idx="2">
                    <c:v>Marketing de lançamento</c:v>
                  </c:pt>
                  <c:pt idx="3">
                    <c:v>Documentos legais</c:v>
                  </c:pt>
                  <c:pt idx="4">
                    <c:v>Seguro (1.º ano)</c:v>
                  </c:pt>
                  <c:pt idx="5">
                    <c:v>Servidor e faturação</c:v>
                  </c:pt>
                  <c:pt idx="6">
                    <c:v>Bancada</c:v>
                  </c:pt>
                  <c:pt idx="7">
                    <c:v>Quadro de demonstração</c:v>
                  </c:pt>
                  <c:pt idx="8">
                    <c:v>Identificação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1290</c:v>
                </c:pt>
                <c:pt idx="1">
                  <c:v>900</c:v>
                </c:pt>
                <c:pt idx="2">
                  <c:v>800</c:v>
                </c:pt>
                <c:pt idx="3">
                  <c:v>600</c:v>
                </c:pt>
                <c:pt idx="4">
                  <c:v>480</c:v>
                </c:pt>
                <c:pt idx="5">
                  <c:v>420</c:v>
                </c:pt>
                <c:pt idx="6">
                  <c:v>350</c:v>
                </c:pt>
                <c:pt idx="7">
                  <c:v>300</c:v>
                </c:pt>
                <c:pt idx="8">
                  <c:v>150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28361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8361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83618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83618"/>
                </a:solidFill>
                <a:latin typeface="Arial"/>
              </a:rPr>
              <a:t>Resultado mensal previsto (€, set. 2027 a ago. 2028)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 mensal</c:v>
                </c:pt>
              </c:strCache>
            </c:strRef>
          </c:tx>
          <c:spPr>
            <a:solidFill>
              <a:srgbClr val="BC6C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set</c:v>
                  </c:pt>
                  <c:pt idx="1">
                    <c:v>out</c:v>
                  </c:pt>
                  <c:pt idx="2">
                    <c:v>nov</c:v>
                  </c:pt>
                  <c:pt idx="3">
                    <c:v>dez</c:v>
                  </c:pt>
                  <c:pt idx="4">
                    <c:v>jan</c:v>
                  </c:pt>
                  <c:pt idx="5">
                    <c:v>fev</c:v>
                  </c:pt>
                  <c:pt idx="6">
                    <c:v>mar</c:v>
                  </c:pt>
                  <c:pt idx="7">
                    <c:v>abr</c:v>
                  </c:pt>
                  <c:pt idx="8">
                    <c:v>mai</c:v>
                  </c:pt>
                  <c:pt idx="9">
                    <c:v>jun</c:v>
                  </c:pt>
                  <c:pt idx="10">
                    <c:v>jul</c:v>
                  </c:pt>
                  <c:pt idx="11">
                    <c:v>ago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168</c:v>
                </c:pt>
                <c:pt idx="1">
                  <c:v>175</c:v>
                </c:pt>
                <c:pt idx="2">
                  <c:v>338</c:v>
                </c:pt>
                <c:pt idx="3">
                  <c:v>500</c:v>
                </c:pt>
                <c:pt idx="4">
                  <c:v>655</c:v>
                </c:pt>
                <c:pt idx="5">
                  <c:v>825</c:v>
                </c:pt>
                <c:pt idx="6">
                  <c:v>988</c:v>
                </c:pt>
                <c:pt idx="7">
                  <c:v>1158</c:v>
                </c:pt>
                <c:pt idx="8">
                  <c:v>1328</c:v>
                </c:pt>
                <c:pt idx="9">
                  <c:v>1498</c:v>
                </c:pt>
                <c:pt idx="10">
                  <c:v>1528</c:v>
                </c:pt>
                <c:pt idx="11">
                  <c:v>1551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8361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0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44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 empresa numa frase: eletricidade e casa inteligente com orçamento na hora no site, feitas por eletricistas parceiros. As obras começam em setembro de 2027, depois do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Seguir os números de 1 a 8. No passo 5, se o cliente não aceitar, o pedido volta ao gerente, que retifica e volta a pôr na bolsa, ou desiste. O eletricista vai a casa do cliente em nome da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83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822960" cy="822960"/>
          </a:xfrm>
          <a:prstGeom prst="ellipse">
            <a:avLst/>
          </a:prstGeom>
          <a:solidFill>
            <a:srgbClr val="606C38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640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⚡</a:t>
            </a:r>
            <a:endParaRPr lang="en-US" sz="198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Domus Energia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60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eletricidade da sua casa, na palma da mão.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 grupo: ideia de negócio · Módulo 7855, Plano de negócio · Formador: Luís Santos · Rui Bragança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ideia ao negócio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606C38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2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31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Ideia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83464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um eletricista é lento e o preço é uma surpresa. Com um site que dá o orçamento na hora e aparelhos Wi-Fi baratos, dá para fazer melhor.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91840" y="141732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66160" y="1645920"/>
            <a:ext cx="548640" cy="548640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2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331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6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83464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Mercado, clientes, concorrência, recursos, custos e riscos estudados. Empresa criada e plataforma publicada em opancas.pt.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27432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126480" y="1417320"/>
            <a:ext cx="2560320" cy="31089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0" y="1645920"/>
            <a:ext cx="548640" cy="548640"/>
          </a:xfrm>
          <a:prstGeom prst="ellipse">
            <a:avLst/>
          </a:prstGeom>
          <a:solidFill>
            <a:srgbClr val="283618"/>
          </a:solidFill>
          <a:ln w="12700">
            <a:solidFill>
              <a:srgbClr val="28361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2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2331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Negócio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834640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de 2027: fim do curso, primeiras obras pagas, parceiros a trabalhar, primeiras mensalidades.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IDEIA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ideia e a necessidade que resolve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77640" cy="3383280"/>
          </a:xfrm>
          <a:prstGeom prst="roundRect">
            <a:avLst>
              <a:gd name="adj" fmla="val 3243"/>
            </a:avLst>
          </a:prstGeom>
          <a:solidFill>
            <a:srgbClr val="283618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3474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Qual é a ideia?</a:t>
            </a:r>
            <a:endParaRPr lang="en-US" sz="1300" dirty="0"/>
          </a:p>
          <a:p>
            <a:pPr indent="0" marL="0">
              <a:buNone/>
            </a:pPr>
            <a:r>
              <a:rPr lang="en-US" sz="17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Eletricidade e casa inteligente com orçamento na hora no site, feitas por eletricistas e ligadas a uma plataforma própria.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2801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Que necessidade resolve?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691640"/>
            <a:ext cx="502920" cy="502920"/>
          </a:xfrm>
          <a:prstGeom prst="ellipse">
            <a:avLst/>
          </a:prstGeom>
          <a:solidFill>
            <a:srgbClr val="EEF0D9"/>
          </a:solidFill>
          <a:ln w="12700">
            <a:solidFill>
              <a:srgbClr val="EEF0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</a:t>
            </a:r>
            <a:endParaRPr lang="en-US" sz="1210" dirty="0"/>
          </a:p>
        </p:txBody>
      </p:sp>
      <p:sp>
        <p:nvSpPr>
          <p:cNvPr id="9" name="Text 7"/>
          <p:cNvSpPr txBox="1"/>
          <p:nvPr/>
        </p:nvSpPr>
        <p:spPr>
          <a:xfrm>
            <a:off x="5394960" y="16916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o preço antes da visita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 na hora, no site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54880" y="2441448"/>
            <a:ext cx="502920" cy="502920"/>
          </a:xfrm>
          <a:prstGeom prst="ellipse">
            <a:avLst/>
          </a:prstGeom>
          <a:solidFill>
            <a:srgbClr val="EEF0D9"/>
          </a:solidFill>
          <a:ln w="12700">
            <a:solidFill>
              <a:srgbClr val="EEF0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548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🔒</a:t>
            </a:r>
            <a:endParaRPr lang="en-US" sz="121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24414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 um quadro seguro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proteções certas e ensaios feitos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754880" y="3191256"/>
            <a:ext cx="502920" cy="502920"/>
          </a:xfrm>
          <a:prstGeom prst="ellipse">
            <a:avLst/>
          </a:prstGeom>
          <a:solidFill>
            <a:srgbClr val="EEF0D9"/>
          </a:solidFill>
          <a:ln w="12700">
            <a:solidFill>
              <a:srgbClr val="EEF0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54880" y="31912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⚡</a:t>
            </a:r>
            <a:endParaRPr lang="en-US" sz="121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319125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Gastar menos eletricidade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por circuito e alertas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754880" y="3941064"/>
            <a:ext cx="502920" cy="502920"/>
          </a:xfrm>
          <a:prstGeom prst="ellipse">
            <a:avLst/>
          </a:prstGeom>
          <a:solidFill>
            <a:srgbClr val="EEF0D9"/>
          </a:solidFill>
          <a:ln w="12700">
            <a:solidFill>
              <a:srgbClr val="EEF0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54880" y="39410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📱</a:t>
            </a:r>
            <a:endParaRPr lang="en-US" sz="121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394106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 a casa à distância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luzes, estores e aparelhos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IDEIA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são os clientes?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Lisboa e até 100 km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560320" cy="26974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Famílias em casa própria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743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 seguro, conforto e poupança na fatura. Também senhorios e quem cuida dos pais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3840480"/>
            <a:ext cx="2103120" cy="411480"/>
          </a:xfrm>
          <a:prstGeom prst="roundRect">
            <a:avLst>
              <a:gd name="adj" fmla="val 44444"/>
            </a:avLst>
          </a:prstGeom>
          <a:solidFill>
            <a:srgbClr val="EEF0D9"/>
          </a:solidFill>
          <a:ln w="12700">
            <a:solidFill>
              <a:srgbClr val="EEF0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840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 inteligente · Quadro novo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91840" y="1783080"/>
            <a:ext cx="2560320" cy="26974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52044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Donos de carro elétrico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520440" y="2743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Carregar em casa com segurança e saber quanto gasta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520440" y="3840480"/>
            <a:ext cx="2103120" cy="411480"/>
          </a:xfrm>
          <a:prstGeom prst="roundRect">
            <a:avLst>
              <a:gd name="adj" fmla="val 44444"/>
            </a:avLst>
          </a:prstGeom>
          <a:solidFill>
            <a:srgbClr val="EEF0D9"/>
          </a:solidFill>
          <a:ln w="12700">
            <a:solidFill>
              <a:srgbClr val="EEF0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20440" y="3840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Carregador de carro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560320" cy="269748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355080" y="19659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tem uma avaria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355080" y="2743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rápida e preço conhecido antes da visita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3840480"/>
            <a:ext cx="2103120" cy="411480"/>
          </a:xfrm>
          <a:prstGeom prst="roundRect">
            <a:avLst>
              <a:gd name="adj" fmla="val 44444"/>
            </a:avLst>
          </a:prstGeom>
          <a:solidFill>
            <a:srgbClr val="EEF0D9"/>
          </a:solidFill>
          <a:ln w="12700">
            <a:solidFill>
              <a:srgbClr val="EEF0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55080" y="3840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Avaria · Reparações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PROJETO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vendemos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obra paga-se uma vez; a mensalidade, todos os meses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397764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12801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Obra-tipo (exemplo)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6C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 IVA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6C3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 inteligente (T3)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843 €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Quadro elétrico novo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1043 €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Carregador de carro elétrico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449 €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Pequenas reparações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1783080"/>
          <a:ext cx="39776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234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mensal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6C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EFAE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 IVA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6C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Conforto (+ alarme)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(+ central em casa)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8361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19,99 €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3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 de obra a 38 € por hora com IVA; preço de cada artigo no site. Sem fidelização: se o cliente deixar de pagar, os botões continuam sempre a funcionar.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PROJETO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são os concorrentes?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onde somos melhores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822960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17373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Eletricistas e plataformas de serviços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17373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só depois da visita ou de várias propostas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173736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Orçamento na hora e obra documentada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822960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0080" y="24688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Alarmes com central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246888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Verisure: desde 37 € por mês, 24 meses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246888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Mensalidade de 4,99 a 19,99 €, sem fidelização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822960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0080" y="32004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Domótica KNX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200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cerca de 1 500 €, com obras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320040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Casa inteligente tipo por 843 €, sem obras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40080" y="39319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pelo próprio (Tuya)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017520" y="393192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Barato, mas mexe no quadro sozinho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393192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Feito por eletricista, tudo numa aplicação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verisure.pt/preco-alarme · zaask.pt (domótica, smart home)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PROJETO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recursos são necessários?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4 recursos da empresa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40233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606C38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1920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Humanos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28600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gerente e 4 eletricistas parceiros, um por especialidade; contabilista e advogado externos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1737360"/>
            <a:ext cx="40233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92040" y="1965960"/>
            <a:ext cx="457200" cy="457200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9204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1920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Materiais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228600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Bancada de preparação, quadro de demonstração, stock de aparelhos; os parceiros usam a sua ferramenta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40233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5800" y="3429000"/>
            <a:ext cx="457200" cy="457200"/>
          </a:xfrm>
          <a:prstGeom prst="ellipse">
            <a:avLst/>
          </a:prstGeom>
          <a:solidFill>
            <a:srgbClr val="DDA15E"/>
          </a:solidFill>
          <a:ln w="12700">
            <a:solidFill>
              <a:srgbClr val="DDA15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Financeiros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7490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5290 € de capital próprio; receitas das obras e das mensalidades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3200400"/>
            <a:ext cx="4023360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92040" y="3429000"/>
            <a:ext cx="457200" cy="457200"/>
          </a:xfrm>
          <a:prstGeom prst="ellipse">
            <a:avLst/>
          </a:prstGeom>
          <a:solidFill>
            <a:srgbClr val="283618"/>
          </a:solidFill>
          <a:ln w="12700">
            <a:solidFill>
              <a:srgbClr val="28361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9204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3383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Tecnológicos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74904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própria: simulador de orçamento, painel de gestão, área do eletricista e aplicação do cliente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PROJETO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faz o quê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gerente e quatro especialidades, cada uma com suplente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283618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85800" y="17373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(Rui Bragança)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Direção e aprovação de cada obra · Sistemas e aparelhos (bancada, servidor, aplicação) · Atendimento e marcações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1920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94360" y="2926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154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Quadros e ensaios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703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Quadros novos e ampliações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0" y="2834640"/>
            <a:ext cx="1920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697480" y="2926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154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Casa inteligente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697480" y="3703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Aparelhos, aplicação, explicar ao cliente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1920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00600" y="2926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3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3154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Avarias e reparações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3703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e resposta rápida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766560" y="2834640"/>
            <a:ext cx="1920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903720" y="2926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4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315468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Carregadores e obras novas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03720" y="3703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dedicadas; ajuda nos quadros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independentes, pagos por obra: 70 % da mão de obra. Qualidade em três pontos: validação do gerente, fotos e ensaios, confirmação do cliente. Os melhores passam a contrato quando houver volume.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PROJETO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 um pedido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61872"/>
            <a:ext cx="2624328" cy="347472"/>
          </a:xfrm>
          <a:prstGeom prst="roundRect">
            <a:avLst>
              <a:gd name="adj" fmla="val 26316"/>
            </a:avLst>
          </a:prstGeom>
          <a:solidFill>
            <a:srgbClr val="606C38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61872"/>
            <a:ext cx="2624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2624328" cy="880872"/>
          </a:xfrm>
          <a:prstGeom prst="roundRect">
            <a:avLst>
              <a:gd name="adj" fmla="val 1245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801368"/>
            <a:ext cx="310896" cy="310896"/>
          </a:xfrm>
          <a:prstGeom prst="ellipse">
            <a:avLst/>
          </a:prstGeom>
          <a:solidFill>
            <a:srgbClr val="606C38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801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8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748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764792"/>
            <a:ext cx="2002536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a casa no simulador do site (planta, fotos do quadro, equipamentos) e envia o pedido.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645664"/>
            <a:ext cx="2624328" cy="880872"/>
          </a:xfrm>
          <a:prstGeom prst="roundRect">
            <a:avLst>
              <a:gd name="adj" fmla="val 1245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66928" y="2755392"/>
            <a:ext cx="310896" cy="310896"/>
          </a:xfrm>
          <a:prstGeom prst="ellipse">
            <a:avLst/>
          </a:prstGeom>
          <a:solidFill>
            <a:srgbClr val="606C38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" y="2755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8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748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718816"/>
            <a:ext cx="2002536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e paga o sinal, que inclui a visita. Se não aceitar, diz porquê e o pedido volta ao gerente.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599688"/>
            <a:ext cx="2624328" cy="880872"/>
          </a:xfrm>
          <a:prstGeom prst="roundRect">
            <a:avLst>
              <a:gd name="adj" fmla="val 1245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6928" y="3709416"/>
            <a:ext cx="310896" cy="310896"/>
          </a:xfrm>
          <a:prstGeom prst="ellipse">
            <a:avLst/>
          </a:prstGeom>
          <a:solidFill>
            <a:srgbClr val="606C38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3709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8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748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672840"/>
            <a:ext cx="2002536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 que o trabalho ficou concluído, avalia de 1 a 5 estrelas e paga o restante.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64408" y="1261872"/>
            <a:ext cx="2624328" cy="347472"/>
          </a:xfrm>
          <a:prstGeom prst="roundRect">
            <a:avLst>
              <a:gd name="adj" fmla="val 26316"/>
            </a:avLst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64408" y="1261872"/>
            <a:ext cx="2624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(CEO)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64408" y="1691640"/>
            <a:ext cx="2624328" cy="880872"/>
          </a:xfrm>
          <a:prstGeom prst="roundRect">
            <a:avLst>
              <a:gd name="adj" fmla="val 1245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74136" y="1801368"/>
            <a:ext cx="310896" cy="310896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74136" y="1801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8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748" dirty="0"/>
          </a:p>
        </p:txBody>
      </p:sp>
      <p:sp>
        <p:nvSpPr>
          <p:cNvPr id="23" name="Text 21"/>
          <p:cNvSpPr txBox="1"/>
          <p:nvPr/>
        </p:nvSpPr>
        <p:spPr>
          <a:xfrm>
            <a:off x="3776472" y="1764792"/>
            <a:ext cx="2002536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com uma lista de verificação: planta, foto do quadro, morada, contacto. Se faltar algo, devolve ao cliente.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64408" y="2645664"/>
            <a:ext cx="2624328" cy="880872"/>
          </a:xfrm>
          <a:prstGeom prst="roundRect">
            <a:avLst>
              <a:gd name="adj" fmla="val 1245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374136" y="2755392"/>
            <a:ext cx="310896" cy="310896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374136" y="2755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8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748" dirty="0"/>
          </a:p>
        </p:txBody>
      </p:sp>
      <p:sp>
        <p:nvSpPr>
          <p:cNvPr id="27" name="Text 25"/>
          <p:cNvSpPr txBox="1"/>
          <p:nvPr/>
        </p:nvSpPr>
        <p:spPr>
          <a:xfrm>
            <a:off x="3776472" y="2718816"/>
            <a:ext cx="2002536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as propostas, escolhe o eletricista, define o preço e envia a proposta ao cliente.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64408" y="3599688"/>
            <a:ext cx="2624328" cy="880872"/>
          </a:xfrm>
          <a:prstGeom prst="roundRect">
            <a:avLst>
              <a:gd name="adj" fmla="val 12457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374136" y="3709416"/>
            <a:ext cx="310896" cy="310896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374136" y="37094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8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748" dirty="0"/>
          </a:p>
        </p:txBody>
      </p:sp>
      <p:sp>
        <p:nvSpPr>
          <p:cNvPr id="31" name="Text 29"/>
          <p:cNvSpPr txBox="1"/>
          <p:nvPr/>
        </p:nvSpPr>
        <p:spPr>
          <a:xfrm>
            <a:off x="3776472" y="3672840"/>
            <a:ext cx="2002536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 o trabalho e paga ao eletricista: 70 % da mão de obra e a deslocação. O material é da empresa.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071616" y="1261872"/>
            <a:ext cx="2624328" cy="347472"/>
          </a:xfrm>
          <a:prstGeom prst="roundRect">
            <a:avLst>
              <a:gd name="adj" fmla="val 26316"/>
            </a:avLst>
          </a:prstGeom>
          <a:solidFill>
            <a:srgbClr val="283618"/>
          </a:solidFill>
          <a:ln w="12700">
            <a:solidFill>
              <a:srgbClr val="28361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1616" y="1261872"/>
            <a:ext cx="2624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ELETRICISTA PARCEIRO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071616" y="1691640"/>
            <a:ext cx="2624328" cy="1357884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181344" y="1801368"/>
            <a:ext cx="310896" cy="310896"/>
          </a:xfrm>
          <a:prstGeom prst="ellipse">
            <a:avLst/>
          </a:prstGeom>
          <a:solidFill>
            <a:srgbClr val="283618"/>
          </a:solidFill>
          <a:ln w="12700">
            <a:solidFill>
              <a:srgbClr val="28361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81344" y="1801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8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748" dirty="0"/>
          </a:p>
        </p:txBody>
      </p:sp>
      <p:sp>
        <p:nvSpPr>
          <p:cNvPr id="37" name="Text 35"/>
          <p:cNvSpPr txBox="1"/>
          <p:nvPr/>
        </p:nvSpPr>
        <p:spPr>
          <a:xfrm>
            <a:off x="6583680" y="1764792"/>
            <a:ext cx="2002536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parceiros da zona veem o pedido na bolsa de trabalhos: planta, fotos e relatório técnico, sem nome, morada nem telefone do cliente. Propõem horas e material.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071616" y="3122676"/>
            <a:ext cx="2624328" cy="1357884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181344" y="3232404"/>
            <a:ext cx="310896" cy="310896"/>
          </a:xfrm>
          <a:prstGeom prst="ellipse">
            <a:avLst/>
          </a:prstGeom>
          <a:solidFill>
            <a:srgbClr val="283618"/>
          </a:solidFill>
          <a:ln w="12700">
            <a:solidFill>
              <a:srgbClr val="28361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81344" y="32324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8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748" dirty="0"/>
          </a:p>
        </p:txBody>
      </p:sp>
      <p:sp>
        <p:nvSpPr>
          <p:cNvPr id="41" name="Text 39"/>
          <p:cNvSpPr txBox="1"/>
          <p:nvPr/>
        </p:nvSpPr>
        <p:spPr>
          <a:xfrm>
            <a:off x="6583680" y="3195828"/>
            <a:ext cx="2002536" cy="1211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escolhido só agora recebe o contacto do cliente. Marca a visita em 48 horas e pode fazer a obra nessa visita. Regista fotos de antes e depois e os ensaios.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455371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trata sempre com a Domus Energia. O eletricista só propõe horas e material; a empresa calcula o preço. Qualidade em três pontos: validação à entrada, fotos e ensaios para concluir, confirmação do cliente antes de pagar ao eletricista.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PROJETO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o investimento inicial?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próprio; a empresa e a plataforma já existem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8288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C6C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5290 €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empréstimos; o sinal de 30 % de cada obra paga o material dessa obra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931920" y="1645920"/>
          <a:ext cx="48463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PROJETO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serão obtidas receitas?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obras pagam a empresa; as mensalidades repetem-se todos os meses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783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412 €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134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médio de uma obra (sem IVA)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7063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por mês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3300984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obras para o ponto de equilíbrio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75818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06C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88536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casas com mensalidade em agosto de 2028</a:t>
            </a:r>
            <a:endParaRPr lang="en-US" sz="1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3840480" y="164592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PROJETO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Quais os principais riscos?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 medida preventiva de cada um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2432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clientes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402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Avaliações no Google, relatório grátis da casa, parcerias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64408" y="1737360"/>
            <a:ext cx="262432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447288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Habilitação atrasada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22402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marcar obras antes do fim do curso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71616" y="1737360"/>
            <a:ext cx="262432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254496" y="18745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depende do gerente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54496" y="22402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Procedimentos escritos; atendimento a meio tempo acima de 12 obras por mês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262432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sem disponibilidade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7033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Suplente em cada especialidade; bolsa de trabalhos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64408" y="3200400"/>
            <a:ext cx="262432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47288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Aparelho avaria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447288" y="37033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Testado na bancada; stock de substituição; garantia da empresa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71616" y="3200400"/>
            <a:ext cx="2624328" cy="1298448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E6E0BF"/>
            </a:solidFill>
            <a:prstDash val="solid"/>
          </a:ln>
          <a:effectLst>
            <a:outerShdw sx="100000" sy="100000" kx="0" ky="0" algn="bl" rotWithShape="0" blurRad="76200" dist="25400" dir="5400000">
              <a:srgbClr val="283618">
                <a:alpha val="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254496" y="33375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Obra mal feita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254496" y="37033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à entrada, fotos e ensaios, confirmação do cliente, seguro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NEGÓCIO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a primeira ação a realizar?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29184" cy="329184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2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792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1887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4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preparação à primeira obra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7498080" cy="0"/>
          </a:xfrm>
          <a:prstGeom prst="line">
            <a:avLst/>
          </a:prstGeom>
          <a:noFill/>
          <a:ln w="25400">
            <a:solidFill>
              <a:srgbClr val="DDA1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148840"/>
            <a:ext cx="365760" cy="365760"/>
          </a:xfrm>
          <a:prstGeom prst="ellipse">
            <a:avLst/>
          </a:prstGeom>
          <a:solidFill>
            <a:srgbClr val="BC6C25"/>
          </a:solidFill>
          <a:ln w="12700">
            <a:solidFill>
              <a:srgbClr val="BC6C2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88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6517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dez. 2026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9718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a bancada e testar os aparelhos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0" y="2148840"/>
            <a:ext cx="365760" cy="365760"/>
          </a:xfrm>
          <a:prstGeom prst="ellipse">
            <a:avLst/>
          </a:prstGeom>
          <a:solidFill>
            <a:srgbClr val="606C38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26517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mar. 2027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60320" y="29718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legais, contrato de parceiro, CAE 43210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2148840"/>
            <a:ext cx="365760" cy="365760"/>
          </a:xfrm>
          <a:prstGeom prst="ellipse">
            <a:avLst/>
          </a:prstGeom>
          <a:solidFill>
            <a:srgbClr val="606C38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6517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Mai. a ago. 2027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29718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os 4 parceiros; seguro; fim do curso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949440" y="2148840"/>
            <a:ext cx="365760" cy="365760"/>
          </a:xfrm>
          <a:prstGeom prst="ellipse">
            <a:avLst/>
          </a:prstGeom>
          <a:solidFill>
            <a:srgbClr val="606C38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949440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6517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Set. 2027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9718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Lançamento e primeiras 4 obras, uma por especialidade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ação: montar a bancada e testar os aparelhos que vão para casa dos clientes.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83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FEFA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ideia é o ponto de partida. Um projeto transforma-a num plano. Um negócio transforma o projeto em realidade.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2918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Domus Energia · opancas.pt · 968 728 723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· Perguntas?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Domus Energia — Ideia de negócio</dc:title>
  <dc:subject>PptxGenJS Presentation</dc:subject>
  <dc:creator>PptxGenJS</dc:creator>
  <cp:lastModifiedBy>PptxGenJS</cp:lastModifiedBy>
  <cp:revision>1</cp:revision>
  <dcterms:created xsi:type="dcterms:W3CDTF">2026-10-11T00:16:49Z</dcterms:created>
  <dcterms:modified xsi:type="dcterms:W3CDTF">2026-10-11T00:16:49Z</dcterms:modified>
</cp:coreProperties>
</file>
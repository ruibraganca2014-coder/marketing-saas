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2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Investimento</c:v>
                </c:pt>
              </c:strCache>
            </c:strRef>
          </c:tx>
          <c:spPr>
            <a:solidFill>
              <a:srgbClr val="606C3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283618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Stock inicial</c:v>
                  </c:pt>
                  <c:pt idx="1">
                    <c:v>Ferramentas e EPI</c:v>
                  </c:pt>
                  <c:pt idx="2">
                    <c:v>Fundo de reserva</c:v>
                  </c:pt>
                  <c:pt idx="3">
                    <c:v>Marketing</c:v>
                  </c:pt>
                  <c:pt idx="4">
                    <c:v>Seguro RC</c:v>
                  </c:pt>
                  <c:pt idx="5">
                    <c:v>Criar a empresa</c:v>
                  </c:pt>
                  <c:pt idx="6">
                    <c:v>Servidor e domínio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1300</c:v>
                </c:pt>
                <c:pt idx="1">
                  <c:v>1200</c:v>
                </c:pt>
                <c:pt idx="2">
                  <c:v>940</c:v>
                </c:pt>
                <c:pt idx="3">
                  <c:v>600</c:v>
                </c:pt>
                <c:pt idx="4">
                  <c:v>420</c:v>
                </c:pt>
                <c:pt idx="5">
                  <c:v>360</c:v>
                </c:pt>
                <c:pt idx="6">
                  <c:v>180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283618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28361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283618"/>
                </a:solidFill>
                <a:latin typeface="Arial"/>
              </a:defRPr>
            </a:pPr>
            <a:r>
              <a:rPr sz="1200" b="0" i="0" u="none" strike="noStrike">
                <a:solidFill>
                  <a:srgbClr val="283618"/>
                </a:solidFill>
                <a:latin typeface="Arial"/>
              </a:rPr>
              <a:t>Resultado mensal previsto (€, ano 1)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Resultado mensal</c:v>
                </c:pt>
              </c:strCache>
            </c:strRef>
          </c:tx>
          <c:spPr>
            <a:solidFill>
              <a:srgbClr val="BC6C2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Sheet1!$A$2:$A$13</c:f>
              <c:multiLvlStrCache>
                <c:ptCount val="12"/>
                <c:lvl>
                  <c:pt idx="0">
                    <c:v>M1</c:v>
                  </c:pt>
                  <c:pt idx="1">
                    <c:v>M2</c:v>
                  </c:pt>
                  <c:pt idx="2">
                    <c:v>M3</c:v>
                  </c:pt>
                  <c:pt idx="3">
                    <c:v>M4</c:v>
                  </c:pt>
                  <c:pt idx="4">
                    <c:v>M5</c:v>
                  </c:pt>
                  <c:pt idx="5">
                    <c:v>M6</c:v>
                  </c:pt>
                  <c:pt idx="6">
                    <c:v>M7</c:v>
                  </c:pt>
                  <c:pt idx="7">
                    <c:v>M8</c:v>
                  </c:pt>
                  <c:pt idx="8">
                    <c:v>M9</c:v>
                  </c:pt>
                  <c:pt idx="9">
                    <c:v>M10</c:v>
                  </c:pt>
                  <c:pt idx="10">
                    <c:v>M11</c:v>
                  </c:pt>
                  <c:pt idx="11">
                    <c:v>M12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-1</c:v>
                </c:pt>
                <c:pt idx="1">
                  <c:v>14</c:v>
                </c:pt>
                <c:pt idx="2">
                  <c:v>22</c:v>
                </c:pt>
                <c:pt idx="3">
                  <c:v>546</c:v>
                </c:pt>
                <c:pt idx="4">
                  <c:v>569</c:v>
                </c:pt>
                <c:pt idx="5">
                  <c:v>591</c:v>
                </c:pt>
                <c:pt idx="6">
                  <c:v>1123</c:v>
                </c:pt>
                <c:pt idx="7">
                  <c:v>1154</c:v>
                </c:pt>
                <c:pt idx="8">
                  <c:v>1184</c:v>
                </c:pt>
                <c:pt idx="9">
                  <c:v>1214</c:v>
                </c:pt>
                <c:pt idx="10">
                  <c:v>1251</c:v>
                </c:pt>
                <c:pt idx="11">
                  <c:v>1281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28361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6E0B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C644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Apresentar a empresa numa frase: eletricidade e automação residencial na Grande Lisboa, com plataforma própria e mensalidade baixa.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836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40080"/>
            <a:ext cx="822960" cy="822960"/>
          </a:xfrm>
          <a:prstGeom prst="ellipse">
            <a:avLst/>
          </a:prstGeom>
          <a:solidFill>
            <a:srgbClr val="606C38"/>
          </a:solidFill>
          <a:ln w="12700">
            <a:solidFill>
              <a:srgbClr val="606C38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6400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80" b="1" dirty="0">
                <a:solidFill>
                  <a:srgbClr val="FEFA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⚡</a:t>
            </a:r>
            <a:endParaRPr lang="en-US" sz="198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4592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EFA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Domus Energia</a:t>
            </a:r>
            <a:endParaRPr lang="en-US" sz="4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56032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DDA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eletricidade da sua casa, na palma da mão.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42062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C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Atividade de grupo: ideia de negócio · Módulo 7855 – Plano de negócio · Formador: Luís Santos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EFA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836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 ideia ao negócio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417320"/>
            <a:ext cx="2560320" cy="310896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9525">
            <a:solidFill>
              <a:srgbClr val="E6E0BF"/>
            </a:solidFill>
            <a:prstDash val="solid"/>
          </a:ln>
          <a:effectLst>
            <a:outerShdw sx="100000" sy="100000" kx="0" ky="0" algn="bl" rotWithShape="0" blurRad="76200" dist="25400" dir="5400000">
              <a:srgbClr val="283618">
                <a:alpha val="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31520" y="1645920"/>
            <a:ext cx="548640" cy="548640"/>
          </a:xfrm>
          <a:prstGeom prst="ellipse">
            <a:avLst/>
          </a:prstGeom>
          <a:solidFill>
            <a:srgbClr val="606C38"/>
          </a:solidFill>
          <a:ln w="12700">
            <a:solidFill>
              <a:srgbClr val="606C3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6459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FEFA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2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33172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606C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Ideia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834640"/>
            <a:ext cx="20574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836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Casas gastam demais e não têm segurança. Com aparelhos Wi-Fi e uma app própria, um eletricista pode resolver isso.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3017520" y="274320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BC6C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3291840" y="1417320"/>
            <a:ext cx="2560320" cy="310896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9525">
            <a:solidFill>
              <a:srgbClr val="E6E0BF"/>
            </a:solidFill>
            <a:prstDash val="solid"/>
          </a:ln>
          <a:effectLst>
            <a:outerShdw sx="100000" sy="100000" kx="0" ky="0" algn="bl" rotWithShape="0" blurRad="76200" dist="25400" dir="5400000">
              <a:srgbClr val="283618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566160" y="1645920"/>
            <a:ext cx="548640" cy="548640"/>
          </a:xfrm>
          <a:prstGeom prst="ellipse">
            <a:avLst/>
          </a:prstGeom>
          <a:solidFill>
            <a:srgbClr val="BC6C25"/>
          </a:solidFill>
          <a:ln w="12700">
            <a:solidFill>
              <a:srgbClr val="BC6C25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566160" y="16459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FEFA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20" dirty="0"/>
          </a:p>
        </p:txBody>
      </p:sp>
      <p:sp>
        <p:nvSpPr>
          <p:cNvPr id="12" name="Text 10"/>
          <p:cNvSpPr txBox="1"/>
          <p:nvPr/>
        </p:nvSpPr>
        <p:spPr>
          <a:xfrm>
            <a:off x="3566160" y="233172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BC6C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Projeto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3566160" y="2834640"/>
            <a:ext cx="20574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836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Mercado, clientes, concorrência, recursos, custos e riscos estudados. Plataforma (servidor, app e site) já construída e testada.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5852160" y="274320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BC6C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6126480" y="1417320"/>
            <a:ext cx="2560320" cy="310896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9525">
            <a:solidFill>
              <a:srgbClr val="E6E0BF"/>
            </a:solidFill>
            <a:prstDash val="solid"/>
          </a:ln>
          <a:effectLst>
            <a:outerShdw sx="100000" sy="100000" kx="0" ky="0" algn="bl" rotWithShape="0" blurRad="76200" dist="25400" dir="5400000">
              <a:srgbClr val="283618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400800" y="1645920"/>
            <a:ext cx="548640" cy="548640"/>
          </a:xfrm>
          <a:prstGeom prst="ellipse">
            <a:avLst/>
          </a:prstGeom>
          <a:solidFill>
            <a:srgbClr val="283618"/>
          </a:solidFill>
          <a:ln w="12700">
            <a:solidFill>
              <a:srgbClr val="283618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400800" y="16459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FEFA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20" dirty="0"/>
          </a:p>
        </p:txBody>
      </p:sp>
      <p:sp>
        <p:nvSpPr>
          <p:cNvPr id="18" name="Text 16"/>
          <p:cNvSpPr txBox="1"/>
          <p:nvPr/>
        </p:nvSpPr>
        <p:spPr>
          <a:xfrm>
            <a:off x="6400800" y="233172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836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Negócio</a:t>
            </a:r>
            <a:endParaRPr lang="en-US" sz="2200" dirty="0"/>
          </a:p>
        </p:txBody>
      </p:sp>
      <p:sp>
        <p:nvSpPr>
          <p:cNvPr id="19" name="Text 17"/>
          <p:cNvSpPr txBox="1"/>
          <p:nvPr/>
        </p:nvSpPr>
        <p:spPr>
          <a:xfrm>
            <a:off x="6400800" y="2834640"/>
            <a:ext cx="20574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836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Criar a empresa, 3 instalações-piloto, primeiros clientes e mensalidades, resultados acompanhados todas as semanas.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EFA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C6C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1 · IDEIA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836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ideia e a necessidade que resolve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3977640" cy="3383280"/>
          </a:xfrm>
          <a:prstGeom prst="roundRect">
            <a:avLst>
              <a:gd name="adj" fmla="val 3243"/>
            </a:avLst>
          </a:prstGeom>
          <a:solidFill>
            <a:srgbClr val="283618"/>
          </a:solidFill>
          <a:ln w="9525">
            <a:solidFill>
              <a:srgbClr val="E6E0BF"/>
            </a:solidFill>
            <a:prstDash val="solid"/>
          </a:ln>
          <a:effectLst>
            <a:outerShdw sx="100000" sy="100000" kx="0" ky="0" algn="bl" rotWithShape="0" blurRad="76200" dist="25400" dir="5400000">
              <a:srgbClr val="283618">
                <a:alpha val="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31520" y="1554480"/>
            <a:ext cx="34747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DDA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Qual é a ideia?</a:t>
            </a:r>
            <a:endParaRPr lang="en-US" sz="1300" dirty="0"/>
          </a:p>
          <a:p>
            <a:pPr indent="0" marL="0">
              <a:buNone/>
            </a:pPr>
            <a:r>
              <a:rPr lang="en-US" sz="1700" dirty="0">
                <a:solidFill>
                  <a:srgbClr val="FEFA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Casas inteligentes instaladas por eletricistas, ligadas a uma plataforma própria (app Android e site), com mensalidade baixa.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4754880" y="128016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C6C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Que necessidade resolve?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754880" y="1691640"/>
            <a:ext cx="502920" cy="502920"/>
          </a:xfrm>
          <a:prstGeom prst="ellipse">
            <a:avLst/>
          </a:prstGeom>
          <a:solidFill>
            <a:srgbClr val="EEF0D9"/>
          </a:solidFill>
          <a:ln w="12700">
            <a:solidFill>
              <a:srgbClr val="EEF0D9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754880" y="1691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10" b="1" dirty="0">
                <a:solidFill>
                  <a:srgbClr val="606C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€</a:t>
            </a:r>
            <a:endParaRPr lang="en-US" sz="1210" dirty="0"/>
          </a:p>
        </p:txBody>
      </p:sp>
      <p:sp>
        <p:nvSpPr>
          <p:cNvPr id="9" name="Text 7"/>
          <p:cNvSpPr txBox="1"/>
          <p:nvPr/>
        </p:nvSpPr>
        <p:spPr>
          <a:xfrm>
            <a:off x="5394960" y="169164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836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Gastar menos eletricidade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5C64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consumo por circuito e alertas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754880" y="2441448"/>
            <a:ext cx="502920" cy="502920"/>
          </a:xfrm>
          <a:prstGeom prst="ellipse">
            <a:avLst/>
          </a:prstGeom>
          <a:solidFill>
            <a:srgbClr val="EEF0D9"/>
          </a:solidFill>
          <a:ln w="12700">
            <a:solidFill>
              <a:srgbClr val="EEF0D9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754880" y="24414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10" b="1" dirty="0">
                <a:solidFill>
                  <a:srgbClr val="606C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🔒</a:t>
            </a:r>
            <a:endParaRPr lang="en-US" sz="1210" dirty="0"/>
          </a:p>
        </p:txBody>
      </p:sp>
      <p:sp>
        <p:nvSpPr>
          <p:cNvPr id="12" name="Text 10"/>
          <p:cNvSpPr txBox="1"/>
          <p:nvPr/>
        </p:nvSpPr>
        <p:spPr>
          <a:xfrm>
            <a:off x="5394960" y="2441448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836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 segurança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5C64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alarme sem contratos de 24 meses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4754880" y="3191256"/>
            <a:ext cx="502920" cy="502920"/>
          </a:xfrm>
          <a:prstGeom prst="ellipse">
            <a:avLst/>
          </a:prstGeom>
          <a:solidFill>
            <a:srgbClr val="EEF0D9"/>
          </a:solidFill>
          <a:ln w="12700">
            <a:solidFill>
              <a:srgbClr val="EEF0D9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754880" y="319125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10" b="1" dirty="0">
                <a:solidFill>
                  <a:srgbClr val="606C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📱</a:t>
            </a:r>
            <a:endParaRPr lang="en-US" sz="1210" dirty="0"/>
          </a:p>
        </p:txBody>
      </p:sp>
      <p:sp>
        <p:nvSpPr>
          <p:cNvPr id="15" name="Text 13"/>
          <p:cNvSpPr txBox="1"/>
          <p:nvPr/>
        </p:nvSpPr>
        <p:spPr>
          <a:xfrm>
            <a:off x="5394960" y="3191256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836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Controlar à distância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5C64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luzes, estores e aparelhos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4754880" y="3941064"/>
            <a:ext cx="502920" cy="502920"/>
          </a:xfrm>
          <a:prstGeom prst="ellipse">
            <a:avLst/>
          </a:prstGeom>
          <a:solidFill>
            <a:srgbClr val="EEF0D9"/>
          </a:solidFill>
          <a:ln w="12700">
            <a:solidFill>
              <a:srgbClr val="EEF0D9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754880" y="394106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10" b="1" dirty="0">
                <a:solidFill>
                  <a:srgbClr val="606C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♥</a:t>
            </a:r>
            <a:endParaRPr lang="en-US" sz="1210" dirty="0"/>
          </a:p>
        </p:txBody>
      </p:sp>
      <p:sp>
        <p:nvSpPr>
          <p:cNvPr id="18" name="Text 16"/>
          <p:cNvSpPr txBox="1"/>
          <p:nvPr/>
        </p:nvSpPr>
        <p:spPr>
          <a:xfrm>
            <a:off x="5394960" y="3941064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836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Acompanhar os pais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5C64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aviso se algo não está normal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EFA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C6C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1 · IDEIA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836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Quem são os clientes?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329184" cy="329184"/>
          </a:xfrm>
          <a:prstGeom prst="ellipse">
            <a:avLst/>
          </a:prstGeom>
          <a:solidFill>
            <a:srgbClr val="BC6C25"/>
          </a:solidFill>
          <a:ln w="12700">
            <a:solidFill>
              <a:srgbClr val="BC6C2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1887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92" b="1" dirty="0">
                <a:solidFill>
                  <a:srgbClr val="FEFA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792" dirty="0"/>
          </a:p>
        </p:txBody>
      </p:sp>
      <p:sp>
        <p:nvSpPr>
          <p:cNvPr id="6" name="Text 4"/>
          <p:cNvSpPr txBox="1"/>
          <p:nvPr/>
        </p:nvSpPr>
        <p:spPr>
          <a:xfrm>
            <a:off x="896112" y="1188720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64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Grande Lisboa, no primeiro ano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783080"/>
            <a:ext cx="2560320" cy="269748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9525">
            <a:solidFill>
              <a:srgbClr val="E6E0BF"/>
            </a:solidFill>
            <a:prstDash val="solid"/>
          </a:ln>
          <a:effectLst>
            <a:outerShdw sx="100000" sy="100000" kx="0" ky="0" algn="bl" rotWithShape="0" blurRad="76200" dist="25400" dir="5400000">
              <a:srgbClr val="283618">
                <a:alpha val="8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685800" y="196596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606C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Famílias em moradias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274320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836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Segurança, conforto e poupança na fatura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85800" y="3840480"/>
            <a:ext cx="2103120" cy="411480"/>
          </a:xfrm>
          <a:prstGeom prst="roundRect">
            <a:avLst>
              <a:gd name="adj" fmla="val 44444"/>
            </a:avLst>
          </a:prstGeom>
          <a:solidFill>
            <a:srgbClr val="EEF0D9"/>
          </a:solidFill>
          <a:ln w="12700">
            <a:solidFill>
              <a:srgbClr val="EEF0D9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85800" y="384048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06C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 Conforto ou Premium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291840" y="1783080"/>
            <a:ext cx="2560320" cy="269748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9525">
            <a:solidFill>
              <a:srgbClr val="E6E0BF"/>
            </a:solidFill>
            <a:prstDash val="solid"/>
          </a:ln>
          <a:effectLst>
            <a:outerShdw sx="100000" sy="100000" kx="0" ky="0" algn="bl" rotWithShape="0" blurRad="76200" dist="25400" dir="5400000">
              <a:srgbClr val="283618">
                <a:alpha val="8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3520440" y="196596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606C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Apartamentos e alojamento local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3520440" y="274320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836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Controlo à distância e consumo por estadia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520440" y="3840480"/>
            <a:ext cx="2103120" cy="411480"/>
          </a:xfrm>
          <a:prstGeom prst="roundRect">
            <a:avLst>
              <a:gd name="adj" fmla="val 44444"/>
            </a:avLst>
          </a:prstGeom>
          <a:solidFill>
            <a:srgbClr val="EEF0D9"/>
          </a:solidFill>
          <a:ln w="12700">
            <a:solidFill>
              <a:srgbClr val="EEF0D9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520440" y="384048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06C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 Essencial ou Conforto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126480" y="1783080"/>
            <a:ext cx="2560320" cy="269748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9525">
            <a:solidFill>
              <a:srgbClr val="E6E0BF"/>
            </a:solidFill>
            <a:prstDash val="solid"/>
          </a:ln>
          <a:effectLst>
            <a:outerShdw sx="100000" sy="100000" kx="0" ky="0" algn="bl" rotWithShape="0" blurRad="76200" dist="25400" dir="5400000">
              <a:srgbClr val="283618">
                <a:alpha val="8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6355080" y="196596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606C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Idosos e familiares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6355080" y="274320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836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Aviso se não houver movimento de manhã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355080" y="3840480"/>
            <a:ext cx="2103120" cy="411480"/>
          </a:xfrm>
          <a:prstGeom prst="roundRect">
            <a:avLst>
              <a:gd name="adj" fmla="val 44444"/>
            </a:avLst>
          </a:prstGeom>
          <a:solidFill>
            <a:srgbClr val="EEF0D9"/>
          </a:solidFill>
          <a:ln w="12700">
            <a:solidFill>
              <a:srgbClr val="EEF0D9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355080" y="384048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06C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 Conforto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EFA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C6C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2 · PROJETO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836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vendemos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329184" cy="329184"/>
          </a:xfrm>
          <a:prstGeom prst="ellipse">
            <a:avLst/>
          </a:prstGeom>
          <a:solidFill>
            <a:srgbClr val="BC6C25"/>
          </a:solidFill>
          <a:ln w="12700">
            <a:solidFill>
              <a:srgbClr val="BC6C2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1887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92" b="1" dirty="0">
                <a:solidFill>
                  <a:srgbClr val="FEFA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792" dirty="0"/>
          </a:p>
        </p:txBody>
      </p:sp>
      <p:sp>
        <p:nvSpPr>
          <p:cNvPr id="6" name="Text 4"/>
          <p:cNvSpPr txBox="1"/>
          <p:nvPr/>
        </p:nvSpPr>
        <p:spPr>
          <a:xfrm>
            <a:off x="896112" y="1188720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64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Instalação uma vez + mensalidade</a:t>
            </a:r>
            <a:endParaRPr lang="en-US" sz="14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83080"/>
          <a:ext cx="3977640" cy="914400"/>
        </p:xfrm>
        <a:graphic>
          <a:graphicData uri="http://schemas.openxmlformats.org/drawingml/2006/table">
            <a:tbl>
              <a:tblPr/>
              <a:tblGrid>
                <a:gridCol w="2697480"/>
                <a:gridCol w="128016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EFA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Kit de instalação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D3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3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3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3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06C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EFA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Preço s/ IVA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D3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3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3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3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06C3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836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Essencial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D3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3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3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3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836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390 €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D3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3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3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3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836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Conforto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D3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3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3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3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836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890 €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D3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3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3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3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836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Segurança Premium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D3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3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3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3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836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1490 €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D3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3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3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3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1783080"/>
          <a:ext cx="397764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123444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EFA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Plano mensal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D3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3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3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3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06C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EFA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c/ IVA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D3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3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3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3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06C3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836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D3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3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3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3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836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4,99 €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D3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3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3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3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836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Conforto (+ alarme)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D3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3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3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3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836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9,99 €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D3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3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3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3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836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Segurança Premium (+ Raspberry Pi)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D3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3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3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3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836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19,99 €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D3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3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3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3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 5"/>
          <p:cNvSpPr txBox="1"/>
          <p:nvPr/>
        </p:nvSpPr>
        <p:spPr>
          <a:xfrm>
            <a:off x="457200" y="38404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C64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fidelização longa. Se o cliente deixar de pagar, os interruptores físicos continuam sempre a funcionar.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EFA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C6C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2 · PROJETO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836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Quem são os concorrentes?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329184" cy="329184"/>
          </a:xfrm>
          <a:prstGeom prst="ellipse">
            <a:avLst/>
          </a:prstGeom>
          <a:solidFill>
            <a:srgbClr val="BC6C25"/>
          </a:solidFill>
          <a:ln w="12700">
            <a:solidFill>
              <a:srgbClr val="BC6C2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1887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92" b="1" dirty="0">
                <a:solidFill>
                  <a:srgbClr val="FEFA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792" dirty="0"/>
          </a:p>
        </p:txBody>
      </p:sp>
      <p:sp>
        <p:nvSpPr>
          <p:cNvPr id="6" name="Text 4"/>
          <p:cNvSpPr txBox="1"/>
          <p:nvPr/>
        </p:nvSpPr>
        <p:spPr>
          <a:xfrm>
            <a:off x="896112" y="1188720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64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onde somos melhores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737360"/>
            <a:ext cx="8229600" cy="621792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9525">
            <a:solidFill>
              <a:srgbClr val="E6E0BF"/>
            </a:solidFill>
            <a:prstDash val="solid"/>
          </a:ln>
          <a:effectLst>
            <a:outerShdw sx="100000" sy="100000" kx="0" ky="0" algn="bl" rotWithShape="0" blurRad="76200" dist="25400" dir="5400000">
              <a:srgbClr val="283618">
                <a:alpha val="8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640080" y="1737360"/>
            <a:ext cx="2377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836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Alarmes com central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3017520" y="1737360"/>
            <a:ext cx="2560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4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Verisure: desde 37 €/mês, 24 meses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5577840" y="1737360"/>
            <a:ext cx="30175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06C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Mensalidade 4,99–19,99 €, sem fidelização longa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2468880"/>
            <a:ext cx="8229600" cy="621792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9525">
            <a:solidFill>
              <a:srgbClr val="E6E0BF"/>
            </a:solidFill>
            <a:prstDash val="solid"/>
          </a:ln>
          <a:effectLst>
            <a:outerShdw sx="100000" sy="100000" kx="0" ky="0" algn="bl" rotWithShape="0" blurRad="76200" dist="25400" dir="5400000">
              <a:srgbClr val="283618">
                <a:alpha val="8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640080" y="2468880"/>
            <a:ext cx="2377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836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Domótica KNX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3017520" y="2468880"/>
            <a:ext cx="2560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4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Desde ≈ 1 500 €, obras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5577840" y="2468880"/>
            <a:ext cx="30175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06C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Kits desde 390 €, sem obras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3200400"/>
            <a:ext cx="8229600" cy="621792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9525">
            <a:solidFill>
              <a:srgbClr val="E6E0BF"/>
            </a:solidFill>
            <a:prstDash val="solid"/>
          </a:ln>
          <a:effectLst>
            <a:outerShdw sx="100000" sy="100000" kx="0" ky="0" algn="bl" rotWithShape="0" blurRad="76200" dist="25400" dir="5400000">
              <a:srgbClr val="283618">
                <a:alpha val="8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640080" y="3200400"/>
            <a:ext cx="2377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836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Eletricistas tradicionais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3017520" y="3200400"/>
            <a:ext cx="2560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4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Só a instalação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5577840" y="3200400"/>
            <a:ext cx="30175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06C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App própria, alertas e suporte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3931920"/>
            <a:ext cx="8229600" cy="621792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9525">
            <a:solidFill>
              <a:srgbClr val="E6E0BF"/>
            </a:solidFill>
            <a:prstDash val="solid"/>
          </a:ln>
          <a:effectLst>
            <a:outerShdw sx="100000" sy="100000" kx="0" ky="0" algn="bl" rotWithShape="0" blurRad="76200" dist="25400" dir="5400000">
              <a:srgbClr val="283618">
                <a:alpha val="8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640080" y="3931920"/>
            <a:ext cx="2377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836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Faça você mesmo (Tuya)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3017520" y="3931920"/>
            <a:ext cx="2560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4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Barato, mas mexe no quadro sozinho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5577840" y="3931920"/>
            <a:ext cx="30175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06C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Instalação segura e tudo numa app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4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Fontes: verisure.pt/preco-alarme · zaask.pt (domótica, smart home)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EFA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C6C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2 · PROJETO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836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 recursos são necessários?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329184" cy="329184"/>
          </a:xfrm>
          <a:prstGeom prst="ellipse">
            <a:avLst/>
          </a:prstGeom>
          <a:solidFill>
            <a:srgbClr val="BC6C25"/>
          </a:solidFill>
          <a:ln w="12700">
            <a:solidFill>
              <a:srgbClr val="BC6C2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1887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92" b="1" dirty="0">
                <a:solidFill>
                  <a:srgbClr val="FEFA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792" dirty="0"/>
          </a:p>
        </p:txBody>
      </p:sp>
      <p:sp>
        <p:nvSpPr>
          <p:cNvPr id="6" name="Text 4"/>
          <p:cNvSpPr txBox="1"/>
          <p:nvPr/>
        </p:nvSpPr>
        <p:spPr>
          <a:xfrm>
            <a:off x="896112" y="1188720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64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4 recursos da empresa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737360"/>
            <a:ext cx="4023360" cy="1298448"/>
          </a:xfrm>
          <a:prstGeom prst="roundRect">
            <a:avLst>
              <a:gd name="adj" fmla="val 8451"/>
            </a:avLst>
          </a:prstGeom>
          <a:solidFill>
            <a:srgbClr val="FFFFFF"/>
          </a:solidFill>
          <a:ln w="9525">
            <a:solidFill>
              <a:srgbClr val="E6E0BF"/>
            </a:solidFill>
            <a:prstDash val="solid"/>
          </a:ln>
          <a:effectLst>
            <a:outerShdw sx="100000" sy="100000" kx="0" ky="0" algn="bl" rotWithShape="0" blurRad="76200" dist="25400" dir="5400000">
              <a:srgbClr val="283618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85800" y="1965960"/>
            <a:ext cx="457200" cy="457200"/>
          </a:xfrm>
          <a:prstGeom prst="ellipse">
            <a:avLst/>
          </a:prstGeom>
          <a:solidFill>
            <a:srgbClr val="606C38"/>
          </a:solidFill>
          <a:ln w="12700">
            <a:solidFill>
              <a:srgbClr val="606C3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8580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EFA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19202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836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Humanos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1280160" y="2286000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C64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CEO e técnico responsável, 2 técnicos instaladores, 1 técnico de sistemas, 1 comercial part-time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663440" y="1737360"/>
            <a:ext cx="4023360" cy="1298448"/>
          </a:xfrm>
          <a:prstGeom prst="roundRect">
            <a:avLst>
              <a:gd name="adj" fmla="val 8451"/>
            </a:avLst>
          </a:prstGeom>
          <a:solidFill>
            <a:srgbClr val="FFFFFF"/>
          </a:solidFill>
          <a:ln w="9525">
            <a:solidFill>
              <a:srgbClr val="E6E0BF"/>
            </a:solidFill>
            <a:prstDash val="solid"/>
          </a:ln>
          <a:effectLst>
            <a:outerShdw sx="100000" sy="100000" kx="0" ky="0" algn="bl" rotWithShape="0" blurRad="76200" dist="25400" dir="5400000">
              <a:srgbClr val="283618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892040" y="1965960"/>
            <a:ext cx="457200" cy="457200"/>
          </a:xfrm>
          <a:prstGeom prst="ellipse">
            <a:avLst/>
          </a:prstGeom>
          <a:solidFill>
            <a:srgbClr val="BC6C25"/>
          </a:solidFill>
          <a:ln w="12700">
            <a:solidFill>
              <a:srgbClr val="BC6C25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89204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EFA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0" y="19202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836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Materiais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0" y="2286000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C64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Oficina, carros, ferramentas e EPI, kit de demonstração, stock de aparelhos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3200400"/>
            <a:ext cx="4023360" cy="1298448"/>
          </a:xfrm>
          <a:prstGeom prst="roundRect">
            <a:avLst>
              <a:gd name="adj" fmla="val 8451"/>
            </a:avLst>
          </a:prstGeom>
          <a:solidFill>
            <a:srgbClr val="FFFFFF"/>
          </a:solidFill>
          <a:ln w="9525">
            <a:solidFill>
              <a:srgbClr val="E6E0BF"/>
            </a:solidFill>
            <a:prstDash val="solid"/>
          </a:ln>
          <a:effectLst>
            <a:outerShdw sx="100000" sy="100000" kx="0" ky="0" algn="bl" rotWithShape="0" blurRad="76200" dist="25400" dir="5400000">
              <a:srgbClr val="283618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85800" y="3429000"/>
            <a:ext cx="457200" cy="457200"/>
          </a:xfrm>
          <a:prstGeom prst="ellipse">
            <a:avLst/>
          </a:prstGeom>
          <a:solidFill>
            <a:srgbClr val="DDA15E"/>
          </a:solidFill>
          <a:ln w="12700">
            <a:solidFill>
              <a:srgbClr val="DDA15E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85800" y="3429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EFA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1280160" y="33832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836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Financeiros</a:t>
            </a:r>
            <a:endParaRPr lang="en-US" sz="1700" dirty="0"/>
          </a:p>
        </p:txBody>
      </p:sp>
      <p:sp>
        <p:nvSpPr>
          <p:cNvPr id="21" name="Text 19"/>
          <p:cNvSpPr txBox="1"/>
          <p:nvPr/>
        </p:nvSpPr>
        <p:spPr>
          <a:xfrm>
            <a:off x="1280160" y="3749040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C64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5 000 € de capital próprio; receitas das obras e das mensalidades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663440" y="3200400"/>
            <a:ext cx="4023360" cy="1298448"/>
          </a:xfrm>
          <a:prstGeom prst="roundRect">
            <a:avLst>
              <a:gd name="adj" fmla="val 8451"/>
            </a:avLst>
          </a:prstGeom>
          <a:solidFill>
            <a:srgbClr val="FFFFFF"/>
          </a:solidFill>
          <a:ln w="9525">
            <a:solidFill>
              <a:srgbClr val="E6E0BF"/>
            </a:solidFill>
            <a:prstDash val="solid"/>
          </a:ln>
          <a:effectLst>
            <a:outerShdw sx="100000" sy="100000" kx="0" ky="0" algn="bl" rotWithShape="0" blurRad="76200" dist="25400" dir="5400000">
              <a:srgbClr val="283618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892040" y="3429000"/>
            <a:ext cx="457200" cy="457200"/>
          </a:xfrm>
          <a:prstGeom prst="ellipse">
            <a:avLst/>
          </a:prstGeom>
          <a:solidFill>
            <a:srgbClr val="283618"/>
          </a:solidFill>
          <a:ln w="12700">
            <a:solidFill>
              <a:srgbClr val="283618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892040" y="3429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EFA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5486400" y="33832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836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Tecnológicos</a:t>
            </a:r>
            <a:endParaRPr lang="en-US" sz="1700" dirty="0"/>
          </a:p>
        </p:txBody>
      </p:sp>
      <p:sp>
        <p:nvSpPr>
          <p:cNvPr id="26" name="Text 24"/>
          <p:cNvSpPr txBox="1"/>
          <p:nvPr/>
        </p:nvSpPr>
        <p:spPr>
          <a:xfrm>
            <a:off x="5486400" y="3749040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C64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 própria: servidor, motor de automações, app Android e site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EFA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C6C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2 · PROJETO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836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Qual o investimento inicial?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329184" cy="329184"/>
          </a:xfrm>
          <a:prstGeom prst="ellipse">
            <a:avLst/>
          </a:prstGeom>
          <a:solidFill>
            <a:srgbClr val="BC6C25"/>
          </a:solidFill>
          <a:ln w="12700">
            <a:solidFill>
              <a:srgbClr val="BC6C2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1887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92" b="1" dirty="0">
                <a:solidFill>
                  <a:srgbClr val="FEFA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792" dirty="0"/>
          </a:p>
        </p:txBody>
      </p:sp>
      <p:sp>
        <p:nvSpPr>
          <p:cNvPr id="6" name="Text 4"/>
          <p:cNvSpPr txBox="1"/>
          <p:nvPr/>
        </p:nvSpPr>
        <p:spPr>
          <a:xfrm>
            <a:off x="896112" y="1188720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64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Arranque com capital próprio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828800"/>
            <a:ext cx="3291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BC6C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5 000 €</a:t>
            </a:r>
            <a:endParaRPr lang="en-US" sz="60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283464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4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empréstimos no arranque; apoios IEFP e microcrédito como reserva</a:t>
            </a:r>
            <a:endParaRPr lang="en-US" sz="1300" dirty="0"/>
          </a:p>
        </p:txBody>
      </p:sp>
      <p:graphicFrame>
        <p:nvGraphicFramePr>
          <p:cNvPr id="9" name="Chart 0" descr=""/>
          <p:cNvGraphicFramePr/>
          <p:nvPr/>
        </p:nvGraphicFramePr>
        <p:xfrm>
          <a:off x="3931920" y="1645920"/>
          <a:ext cx="4846320" cy="3108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EFA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C6C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2 · PROJETO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836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serão obtidas receitas?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329184" cy="329184"/>
          </a:xfrm>
          <a:prstGeom prst="ellipse">
            <a:avLst/>
          </a:prstGeom>
          <a:solidFill>
            <a:srgbClr val="BC6C25"/>
          </a:solidFill>
          <a:ln w="12700">
            <a:solidFill>
              <a:srgbClr val="BC6C2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1887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92" b="1" dirty="0">
                <a:solidFill>
                  <a:srgbClr val="FEFA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792" dirty="0"/>
          </a:p>
        </p:txBody>
      </p:sp>
      <p:sp>
        <p:nvSpPr>
          <p:cNvPr id="6" name="Text 4"/>
          <p:cNvSpPr txBox="1"/>
          <p:nvPr/>
        </p:nvSpPr>
        <p:spPr>
          <a:xfrm>
            <a:off x="896112" y="1188720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64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Instalações pagam o arranque; mensalidades repetem-se todos os meses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78308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606C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730 €</a:t>
            </a:r>
            <a:endParaRPr lang="en-US" sz="32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231343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4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 médio por instalação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2770632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606C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/ mês</a:t>
            </a:r>
            <a:endParaRPr lang="en-US" sz="32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3300984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4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instalações para o ponto de equilíbrio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3758184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606C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≈ 38</a:t>
            </a:r>
            <a:endParaRPr lang="en-US" sz="32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4288536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4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casas com mensalidade no mês 12</a:t>
            </a:r>
            <a:endParaRPr lang="en-US" sz="1200" dirty="0"/>
          </a:p>
        </p:txBody>
      </p:sp>
      <p:graphicFrame>
        <p:nvGraphicFramePr>
          <p:cNvPr id="13" name="Chart 0" descr=""/>
          <p:cNvGraphicFramePr/>
          <p:nvPr/>
        </p:nvGraphicFramePr>
        <p:xfrm>
          <a:off x="3840480" y="1645920"/>
          <a:ext cx="4937760" cy="3108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EFA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C6C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2 · PROJETO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836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Quais os principais riscos?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329184" cy="329184"/>
          </a:xfrm>
          <a:prstGeom prst="ellipse">
            <a:avLst/>
          </a:prstGeom>
          <a:solidFill>
            <a:srgbClr val="BC6C25"/>
          </a:solidFill>
          <a:ln w="12700">
            <a:solidFill>
              <a:srgbClr val="BC6C2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1887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92" b="1" dirty="0">
                <a:solidFill>
                  <a:srgbClr val="FEFA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792" dirty="0"/>
          </a:p>
        </p:txBody>
      </p:sp>
      <p:sp>
        <p:nvSpPr>
          <p:cNvPr id="6" name="Text 4"/>
          <p:cNvSpPr txBox="1"/>
          <p:nvPr/>
        </p:nvSpPr>
        <p:spPr>
          <a:xfrm>
            <a:off x="896112" y="1188720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64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a medida preventiva de cada um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737360"/>
            <a:ext cx="2624328" cy="1298448"/>
          </a:xfrm>
          <a:prstGeom prst="roundRect">
            <a:avLst>
              <a:gd name="adj" fmla="val 8451"/>
            </a:avLst>
          </a:prstGeom>
          <a:solidFill>
            <a:srgbClr val="FFFFFF"/>
          </a:solidFill>
          <a:ln w="9525">
            <a:solidFill>
              <a:srgbClr val="E6E0BF"/>
            </a:solidFill>
            <a:prstDash val="solid"/>
          </a:ln>
          <a:effectLst>
            <a:outerShdw sx="100000" sy="100000" kx="0" ky="0" algn="bl" rotWithShape="0" blurRad="76200" dist="25400" dir="5400000">
              <a:srgbClr val="283618">
                <a:alpha val="8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640080" y="18745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C6C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Falta de clientes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224028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836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Pilotos com testemunhos; parcerias com AL, mediadoras e lares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64408" y="1737360"/>
            <a:ext cx="2624328" cy="1298448"/>
          </a:xfrm>
          <a:prstGeom prst="roundRect">
            <a:avLst>
              <a:gd name="adj" fmla="val 8451"/>
            </a:avLst>
          </a:prstGeom>
          <a:solidFill>
            <a:srgbClr val="FFFFFF"/>
          </a:solidFill>
          <a:ln w="9525">
            <a:solidFill>
              <a:srgbClr val="E6E0BF"/>
            </a:solidFill>
            <a:prstDash val="solid"/>
          </a:ln>
          <a:effectLst>
            <a:outerShdw sx="100000" sy="100000" kx="0" ky="0" algn="bl" rotWithShape="0" blurRad="76200" dist="25400" dir="5400000">
              <a:srgbClr val="283618">
                <a:alpha val="8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3447288" y="18745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C6C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Aumento dos custos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3447288" y="224028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836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Orçamentos válidos 30 dias; obras agrupadas por zona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071616" y="1737360"/>
            <a:ext cx="2624328" cy="1298448"/>
          </a:xfrm>
          <a:prstGeom prst="roundRect">
            <a:avLst>
              <a:gd name="adj" fmla="val 8451"/>
            </a:avLst>
          </a:prstGeom>
          <a:solidFill>
            <a:srgbClr val="FFFFFF"/>
          </a:solidFill>
          <a:ln w="9525">
            <a:solidFill>
              <a:srgbClr val="E6E0BF"/>
            </a:solidFill>
            <a:prstDash val="solid"/>
          </a:ln>
          <a:effectLst>
            <a:outerShdw sx="100000" sy="100000" kx="0" ky="0" algn="bl" rotWithShape="0" blurRad="76200" dist="25400" dir="5400000">
              <a:srgbClr val="283618">
                <a:alpha val="8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6254496" y="18745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C6C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Novos concorrentes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6254496" y="224028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836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 própria, suporte e preço sem fidelização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3200400"/>
            <a:ext cx="2624328" cy="1298448"/>
          </a:xfrm>
          <a:prstGeom prst="roundRect">
            <a:avLst>
              <a:gd name="adj" fmla="val 8451"/>
            </a:avLst>
          </a:prstGeom>
          <a:solidFill>
            <a:srgbClr val="FFFFFF"/>
          </a:solidFill>
          <a:ln w="9525">
            <a:solidFill>
              <a:srgbClr val="E6E0BF"/>
            </a:solidFill>
            <a:prstDash val="solid"/>
          </a:ln>
          <a:effectLst>
            <a:outerShdw sx="100000" sy="100000" kx="0" ky="0" algn="bl" rotWithShape="0" blurRad="76200" dist="25400" dir="5400000">
              <a:srgbClr val="283618">
                <a:alpha val="8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640080" y="33375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C6C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só fornecedor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640080" y="370332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836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distribuidores; protocolo aberto (MQTT)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264408" y="3200400"/>
            <a:ext cx="2624328" cy="1298448"/>
          </a:xfrm>
          <a:prstGeom prst="roundRect">
            <a:avLst>
              <a:gd name="adj" fmla="val 8451"/>
            </a:avLst>
          </a:prstGeom>
          <a:solidFill>
            <a:srgbClr val="FFFFFF"/>
          </a:solidFill>
          <a:ln w="9525">
            <a:solidFill>
              <a:srgbClr val="E6E0BF"/>
            </a:solidFill>
            <a:prstDash val="solid"/>
          </a:ln>
          <a:effectLst>
            <a:outerShdw sx="100000" sy="100000" kx="0" ky="0" algn="bl" rotWithShape="0" blurRad="76200" dist="25400" dir="5400000">
              <a:srgbClr val="283618">
                <a:alpha val="8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3447288" y="33375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C6C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Certificação DGEG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3447288" y="370332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836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Até ao fim do curso: subcontratar eletricista certificado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071616" y="3200400"/>
            <a:ext cx="2624328" cy="1298448"/>
          </a:xfrm>
          <a:prstGeom prst="roundRect">
            <a:avLst>
              <a:gd name="adj" fmla="val 8451"/>
            </a:avLst>
          </a:prstGeom>
          <a:solidFill>
            <a:srgbClr val="FFFFFF"/>
          </a:solidFill>
          <a:ln w="9525">
            <a:solidFill>
              <a:srgbClr val="E6E0BF"/>
            </a:solidFill>
            <a:prstDash val="solid"/>
          </a:ln>
          <a:effectLst>
            <a:outerShdw sx="100000" sy="100000" kx="0" ky="0" algn="bl" rotWithShape="0" blurRad="76200" dist="25400" dir="5400000">
              <a:srgbClr val="283618">
                <a:alpha val="8000"/>
              </a:srgbClr>
            </a:outerShdw>
          </a:effectLst>
        </p:spPr>
      </p:sp>
      <p:sp>
        <p:nvSpPr>
          <p:cNvPr id="23" name="Text 21"/>
          <p:cNvSpPr txBox="1"/>
          <p:nvPr/>
        </p:nvSpPr>
        <p:spPr>
          <a:xfrm>
            <a:off x="6254496" y="33375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C6C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Falha de internet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6254496" y="370332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836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Regras nos aparelhos; Raspberry Pi no plano Premium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EFA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C6C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3 · NEGÓCIO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836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Qual a primeira ação a realizar?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329184" cy="329184"/>
          </a:xfrm>
          <a:prstGeom prst="ellipse">
            <a:avLst/>
          </a:prstGeom>
          <a:solidFill>
            <a:srgbClr val="BC6C25"/>
          </a:solidFill>
          <a:ln w="12700">
            <a:solidFill>
              <a:srgbClr val="BC6C2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1887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92" b="1" dirty="0">
                <a:solidFill>
                  <a:srgbClr val="FEFA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792" dirty="0"/>
          </a:p>
        </p:txBody>
      </p:sp>
      <p:sp>
        <p:nvSpPr>
          <p:cNvPr id="6" name="Text 4"/>
          <p:cNvSpPr txBox="1"/>
          <p:nvPr/>
        </p:nvSpPr>
        <p:spPr>
          <a:xfrm>
            <a:off x="896112" y="1188720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64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Plano de ação dos primeiros 3 meses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822960" y="2331720"/>
            <a:ext cx="7498080" cy="0"/>
          </a:xfrm>
          <a:prstGeom prst="line">
            <a:avLst/>
          </a:prstGeom>
          <a:noFill/>
          <a:ln w="25400">
            <a:solidFill>
              <a:srgbClr val="DDA15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2148840"/>
            <a:ext cx="365760" cy="365760"/>
          </a:xfrm>
          <a:prstGeom prst="ellipse">
            <a:avLst/>
          </a:prstGeom>
          <a:solidFill>
            <a:srgbClr val="BC6C25"/>
          </a:solidFill>
          <a:ln w="12700">
            <a:solidFill>
              <a:srgbClr val="BC6C2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0080" y="21488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EFA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88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265176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C6C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Mês 1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2971800"/>
            <a:ext cx="1920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836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Decidir sócios e criar a empresa; seguro e contabilista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743200" y="2148840"/>
            <a:ext cx="365760" cy="365760"/>
          </a:xfrm>
          <a:prstGeom prst="ellipse">
            <a:avLst/>
          </a:prstGeom>
          <a:solidFill>
            <a:srgbClr val="606C38"/>
          </a:solidFill>
          <a:ln w="12700">
            <a:solidFill>
              <a:srgbClr val="606C3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743200" y="21488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EFA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880" dirty="0"/>
          </a:p>
        </p:txBody>
      </p:sp>
      <p:sp>
        <p:nvSpPr>
          <p:cNvPr id="14" name="Text 12"/>
          <p:cNvSpPr txBox="1"/>
          <p:nvPr/>
        </p:nvSpPr>
        <p:spPr>
          <a:xfrm>
            <a:off x="2560320" y="265176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C6C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Mês 1–2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2560320" y="2971800"/>
            <a:ext cx="1920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836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Servidor, app e kit de demonstração prontos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846320" y="2148840"/>
            <a:ext cx="365760" cy="365760"/>
          </a:xfrm>
          <a:prstGeom prst="ellipse">
            <a:avLst/>
          </a:prstGeom>
          <a:solidFill>
            <a:srgbClr val="606C38"/>
          </a:solidFill>
          <a:ln w="12700">
            <a:solidFill>
              <a:srgbClr val="606C38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846320" y="21488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EFA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880" dirty="0"/>
          </a:p>
        </p:txBody>
      </p:sp>
      <p:sp>
        <p:nvSpPr>
          <p:cNvPr id="18" name="Text 16"/>
          <p:cNvSpPr txBox="1"/>
          <p:nvPr/>
        </p:nvSpPr>
        <p:spPr>
          <a:xfrm>
            <a:off x="4663440" y="265176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C6C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Mês 2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4663440" y="2971800"/>
            <a:ext cx="1920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836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Lançamento: Google, site, flyers; pagamentos Stripe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949440" y="2148840"/>
            <a:ext cx="365760" cy="365760"/>
          </a:xfrm>
          <a:prstGeom prst="ellipse">
            <a:avLst/>
          </a:prstGeom>
          <a:solidFill>
            <a:srgbClr val="606C38"/>
          </a:solidFill>
          <a:ln w="12700">
            <a:solidFill>
              <a:srgbClr val="606C38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949440" y="21488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EFA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880" dirty="0"/>
          </a:p>
        </p:txBody>
      </p:sp>
      <p:sp>
        <p:nvSpPr>
          <p:cNvPr id="22" name="Text 20"/>
          <p:cNvSpPr txBox="1"/>
          <p:nvPr/>
        </p:nvSpPr>
        <p:spPr>
          <a:xfrm>
            <a:off x="6766560" y="265176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C6C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Mês 2–3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6766560" y="2971800"/>
            <a:ext cx="1920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836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instalações-piloto com testemunhos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457200" y="429768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06C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Primeira ação: decidir os sócios e criar a empresa (Empresa na Hora).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2836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188720"/>
            <a:ext cx="76809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i="1" dirty="0">
                <a:solidFill>
                  <a:srgbClr val="FEFA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ideia é o ponto de partida. Um projeto transforma-a num plano. Um negócio transforma o projeto em realidade.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329184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DA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Domus Energia · Grande Lisboa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84048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C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Obrigado · Perguntas?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Domus Energia — Ideia de negócio</dc:title>
  <dc:subject>PptxGenJS Presentation</dc:subject>
  <dc:creator>PptxGenJS</dc:creator>
  <cp:lastModifiedBy>PptxGenJS</cp:lastModifiedBy>
  <cp:revision>1</cp:revision>
  <dcterms:created xsi:type="dcterms:W3CDTF">2026-09-27T00:34:56Z</dcterms:created>
  <dcterms:modified xsi:type="dcterms:W3CDTF">2026-09-27T00:34:56Z</dcterms:modified>
</cp:coreProperties>
</file>